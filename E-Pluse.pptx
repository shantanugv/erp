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-1476" y="-4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11-Sep-25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11-Sep-25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11-Sep-25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11-Sep-25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11-Sep-25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11-Sep-25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11-Sep-25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11-Sep-25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prints.org/manuscript/202504.0598/v1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hyperlink" Target="https://unesdoc.unesco.org/ark:/48223/pf0000385077" TargetMode="External"/><Relationship Id="rId4" Type="http://schemas.openxmlformats.org/officeDocument/2006/relationships/hyperlink" Target="https://www.mdpi.com/2227-7102/15/3/352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xmlns="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xmlns="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637857" y="326759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ERP System for Rural Schools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1722084"/>
            <a:ext cx="121920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SIH25012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Title 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Automated Attendance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System for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Rural Schools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Smart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Category - Software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 - 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Name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- E-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Pluse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AI-Powered ERP for Rural Schools</a:t>
            </a: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483011"/>
            <a:ext cx="7024256" cy="39857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</a:t>
            </a:r>
            <a:r>
              <a:rPr lang="en-US" sz="23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Solution:-</a:t>
            </a:r>
            <a:endParaRPr lang="en-US" sz="23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>
                <a:latin typeface="Arial" pitchFamily="34" charset="0"/>
                <a:cs typeface="Arial" pitchFamily="34" charset="0"/>
              </a:rPr>
              <a:t>Centralized ERP platform tailored for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rural schools</a:t>
            </a:r>
            <a:r>
              <a:rPr lang="en-US" sz="2300" b="1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Works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offline-first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 with data sync when internet is available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Smart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attendance through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Face Recognition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,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300" b="1" dirty="0" smtClean="0">
                <a:latin typeface="Arial" pitchFamily="34" charset="0"/>
                <a:cs typeface="Arial" pitchFamily="34" charset="0"/>
              </a:rPr>
              <a:t>RFID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 Cards or </a:t>
            </a:r>
            <a:r>
              <a:rPr lang="en-US" sz="2300" b="1" dirty="0" smtClean="0">
                <a:latin typeface="Arial" pitchFamily="34" charset="0"/>
                <a:cs typeface="Arial" pitchFamily="34" charset="0"/>
              </a:rPr>
              <a:t>QR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dirty="0" smtClean="0">
                <a:latin typeface="Arial" pitchFamily="34" charset="0"/>
                <a:cs typeface="Arial" pitchFamily="34" charset="0"/>
              </a:rPr>
              <a:t>Unified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dashboard for teachers, students, admins, and parents</a:t>
            </a:r>
            <a:r>
              <a:rPr lang="en-US" sz="23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300" b="1" dirty="0" smtClean="0">
                <a:latin typeface="Arial" pitchFamily="34" charset="0"/>
                <a:cs typeface="Arial" pitchFamily="34" charset="0"/>
              </a:rPr>
              <a:t>Integrated </a:t>
            </a:r>
            <a:r>
              <a:rPr lang="en-US" sz="2300" b="1" dirty="0">
                <a:latin typeface="Arial" pitchFamily="34" charset="0"/>
                <a:cs typeface="Arial" pitchFamily="34" charset="0"/>
              </a:rPr>
              <a:t>modules </a:t>
            </a:r>
            <a:r>
              <a:rPr lang="en-US" sz="2300" dirty="0">
                <a:latin typeface="Arial" pitchFamily="34" charset="0"/>
                <a:cs typeface="Arial" pitchFamily="34" charset="0"/>
              </a:rPr>
              <a:t>for attendance, academics, scholarships, and mid-day meals.</a:t>
            </a:r>
            <a:endParaRPr lang="en-US" sz="23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7316062" y="1483006"/>
            <a:ext cx="4552088" cy="45089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3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Uniqueness &amp; </a:t>
            </a:r>
            <a:r>
              <a:rPr lang="en-US" sz="23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Innovation:-</a:t>
            </a:r>
            <a:endParaRPr lang="en-US" sz="23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Offline + Cloud Hybrid</a:t>
            </a:r>
            <a:r>
              <a:rPr lang="en-US" sz="2400" dirty="0"/>
              <a:t> → Works seamlessly without stable </a:t>
            </a:r>
            <a:r>
              <a:rPr lang="en-US" sz="2400" dirty="0" smtClean="0"/>
              <a:t>internet.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AI-Powered </a:t>
            </a:r>
            <a:r>
              <a:rPr lang="en-US" sz="2400" b="1" dirty="0"/>
              <a:t>Analytics</a:t>
            </a:r>
            <a:r>
              <a:rPr lang="en-US" sz="2400" dirty="0"/>
              <a:t> </a:t>
            </a:r>
            <a:r>
              <a:rPr lang="en-US" sz="2400" dirty="0" smtClean="0"/>
              <a:t>→ Face recognition, predict </a:t>
            </a:r>
            <a:r>
              <a:rPr lang="en-US" sz="2400" dirty="0"/>
              <a:t>dropouts, absenteeism </a:t>
            </a:r>
            <a:r>
              <a:rPr lang="en-US" sz="2400" dirty="0" smtClean="0"/>
              <a:t>trends.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Low-cost </a:t>
            </a:r>
            <a:r>
              <a:rPr lang="en-US" sz="2400" b="1" dirty="0"/>
              <a:t>hardware integration</a:t>
            </a:r>
            <a:r>
              <a:rPr lang="en-US" sz="2400" dirty="0"/>
              <a:t> → QR/RFID/face recognition using Raspberry </a:t>
            </a:r>
            <a:r>
              <a:rPr lang="en-US" sz="2400" dirty="0" smtClean="0"/>
              <a:t>Pi.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 smtClean="0"/>
              <a:t>Scalable </a:t>
            </a:r>
            <a:r>
              <a:rPr lang="en-US" sz="2400" b="1" dirty="0"/>
              <a:t>solution</a:t>
            </a:r>
            <a:r>
              <a:rPr lang="en-US" sz="2400" dirty="0"/>
              <a:t> → Deployable across multiple schools.</a:t>
            </a:r>
          </a:p>
        </p:txBody>
      </p:sp>
      <p:cxnSp>
        <p:nvCxnSpPr>
          <p:cNvPr id="3" name="Straight Connector 2"/>
          <p:cNvCxnSpPr/>
          <p:nvPr/>
        </p:nvCxnSpPr>
        <p:spPr>
          <a:xfrm>
            <a:off x="7181850" y="13335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29773" y="1448371"/>
            <a:ext cx="5766226" cy="44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>
              <a:buFont typeface="Wingdings" panose="05000000000000000000" pitchFamily="2" charset="2"/>
              <a:buChar char="v"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Technologies</a:t>
            </a:r>
            <a:r>
              <a:rPr lang="en-US" sz="28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::-</a:t>
            </a: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 smtClean="0"/>
              <a:t>Frontend</a:t>
            </a:r>
            <a:r>
              <a:rPr lang="en-US" sz="2800" b="1" dirty="0"/>
              <a:t>:</a:t>
            </a:r>
            <a:r>
              <a:rPr lang="en-US" sz="2800" dirty="0"/>
              <a:t> </a:t>
            </a:r>
            <a:r>
              <a:rPr lang="en-US" sz="2800" dirty="0" err="1"/>
              <a:t>ReactJS</a:t>
            </a:r>
            <a:r>
              <a:rPr lang="en-US" sz="2800" dirty="0"/>
              <a:t> / Flutter (Mobile App)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Backend:</a:t>
            </a:r>
            <a:r>
              <a:rPr lang="en-US" sz="2800" dirty="0"/>
              <a:t> Python (Flask/Django)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Database:</a:t>
            </a:r>
            <a:r>
              <a:rPr lang="en-US" sz="2800" dirty="0"/>
              <a:t> SQLite (Offline), PostgreSQL/MySQL (Cloud)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AI:</a:t>
            </a:r>
            <a:r>
              <a:rPr lang="en-US" sz="2800" dirty="0"/>
              <a:t> </a:t>
            </a:r>
            <a:r>
              <a:rPr lang="en-US" sz="2800" dirty="0" err="1"/>
              <a:t>OpenCV</a:t>
            </a:r>
            <a:r>
              <a:rPr lang="en-US" sz="2800" dirty="0"/>
              <a:t> for face recognition, </a:t>
            </a:r>
            <a:r>
              <a:rPr lang="en-US" sz="2800" dirty="0" err="1"/>
              <a:t>TensorFlow</a:t>
            </a:r>
            <a:r>
              <a:rPr lang="en-US" sz="2800" dirty="0"/>
              <a:t> Lite for edge AI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b="1" dirty="0"/>
              <a:t>Hardware</a:t>
            </a:r>
            <a:r>
              <a:rPr lang="en-US" sz="2800" b="1" dirty="0" smtClean="0"/>
              <a:t>:</a:t>
            </a:r>
            <a:r>
              <a:rPr lang="en-US" sz="2800" dirty="0" smtClean="0"/>
              <a:t> </a:t>
            </a:r>
            <a:r>
              <a:rPr lang="en-US" sz="2800" dirty="0"/>
              <a:t>RFID readers, QR scanners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1026" name="Picture 2" descr="C:\Users\Admin\Downloads\Gemini_Generated_Image_ycvvmnycvvmnycvv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1184" y="953202"/>
            <a:ext cx="5353102" cy="535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Connector 11"/>
          <p:cNvCxnSpPr/>
          <p:nvPr/>
        </p:nvCxnSpPr>
        <p:spPr>
          <a:xfrm>
            <a:off x="6724650" y="13335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8" y="1713365"/>
            <a:ext cx="5486399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Feasibility</a:t>
            </a:r>
            <a:r>
              <a:rPr lang="en-US" sz="28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:-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Low-cost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implementation using Raspberry Pi &amp; open-source software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Scalable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architecture for multiple schools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Minimal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training required for teachers.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6457948" y="1713365"/>
            <a:ext cx="5486399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Challenges:-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Initial resistance to adopting new tech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Strategies to Overcome</a:t>
            </a:r>
            <a:r>
              <a:rPr lang="en-US" sz="28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:-</a:t>
            </a:r>
          </a:p>
          <a:p>
            <a:pPr marL="457200" lvl="0" indent="-457200" algn="just">
              <a:buFont typeface="Arial" panose="020B0604020202020204" pitchFamily="34" charset="0"/>
              <a:buChar char="•"/>
              <a:defRPr/>
            </a:pPr>
            <a:r>
              <a:rPr lang="en-US" sz="2800" dirty="0"/>
              <a:t>Simple UI in </a:t>
            </a:r>
            <a:r>
              <a:rPr lang="en-US" sz="2800" b="1" dirty="0"/>
              <a:t>local languages</a:t>
            </a:r>
            <a:r>
              <a:rPr lang="en-US" sz="2800" dirty="0"/>
              <a:t> for ease of use.</a:t>
            </a:r>
            <a:endParaRPr kumimoji="0" lang="en-US" sz="2800" b="1" i="0" u="sng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286500" y="12573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247650" y="1695453"/>
            <a:ext cx="57912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 on Rural </a:t>
            </a:r>
            <a:r>
              <a:rPr lang="en-US" sz="2800" b="1" u="sng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Schools :-</a:t>
            </a:r>
            <a:endParaRPr kumimoji="0" lang="en-US" sz="2800" b="1" i="0" u="sng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Accurate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tamper-proof attendance tracking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Transparent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reporting for government schemes (mid-day meals, scholarships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).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Data-driven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decisions for resource allocation.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6267450" y="1695453"/>
            <a:ext cx="579120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Benefits:-</a:t>
            </a:r>
            <a:endParaRPr kumimoji="0" lang="en-US" sz="2800" b="1" i="0" u="sng" strike="noStrike" kern="1200" cap="none" spc="0" normalizeH="0" baseline="0" noProof="0" dirty="0" smtClean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Socia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l: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Increased student retention and engagement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Economic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Reduced administrative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costs and manual work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b="1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Environmental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 Digital records reduce paper usage.</a:t>
            </a:r>
            <a:endParaRPr lang="en-US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6153150" y="1219200"/>
            <a:ext cx="0" cy="4658433"/>
          </a:xfrm>
          <a:prstGeom prst="line">
            <a:avLst/>
          </a:prstGeom>
          <a:ln cap="rnd" cmpd="sng">
            <a:solidFill>
              <a:schemeClr val="accent1"/>
            </a:solidFill>
            <a:headEnd type="oval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381000" y="1557013"/>
            <a:ext cx="11440886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lvl="0" indent="-457200" algn="just">
              <a:buFont typeface="Wingdings" panose="05000000000000000000" pitchFamily="2" charset="2"/>
              <a:buChar char="v"/>
              <a:defRPr/>
            </a:pPr>
            <a:r>
              <a:rPr lang="en-US" sz="28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Research Sources</a:t>
            </a:r>
            <a:r>
              <a:rPr lang="en-US" sz="2800" b="1" u="sng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:-</a:t>
            </a:r>
            <a:endParaRPr lang="en-US" sz="2800" b="1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Leveraging </a:t>
            </a: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Artificial Intelligence for Rural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Education </a:t>
            </a:r>
            <a:r>
              <a:rPr lang="en-US" sz="2800" dirty="0"/>
              <a:t>→ </a:t>
            </a:r>
            <a:r>
              <a:rPr lang="en-US" sz="2800" dirty="0">
                <a:hlinkClick r:id="rId3"/>
              </a:rPr>
              <a:t>https://</a:t>
            </a:r>
            <a:r>
              <a:rPr lang="en-US" sz="2800" dirty="0" smtClean="0">
                <a:hlinkClick r:id="rId3"/>
              </a:rPr>
              <a:t>www.preprints.org/manuscript/202504.0598/v1</a:t>
            </a:r>
            <a:endParaRPr lang="en-US" sz="2800" dirty="0" smtClean="0"/>
          </a:p>
          <a:p>
            <a:pPr marL="342900" lvl="0" indent="-342900" algn="just">
              <a:buFont typeface="Arial" panose="020B0604020202020204" pitchFamily="34" charset="0"/>
              <a:buChar char="•"/>
              <a:defRPr/>
            </a:pPr>
            <a:endParaRPr lang="en-US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Artificial Intelligence and Data Literacy in Rural Schools’ 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Teaching Practices </a:t>
            </a:r>
            <a:r>
              <a:rPr lang="en-US" sz="2800" dirty="0" smtClean="0"/>
              <a:t>→ </a:t>
            </a:r>
            <a:r>
              <a:rPr lang="en-US" sz="2800" dirty="0" smtClean="0">
                <a:hlinkClick r:id="rId4"/>
              </a:rPr>
              <a:t>https</a:t>
            </a:r>
            <a:r>
              <a:rPr lang="en-US" sz="2800" dirty="0">
                <a:hlinkClick r:id="rId4"/>
              </a:rPr>
              <a:t>://</a:t>
            </a:r>
            <a:r>
              <a:rPr lang="en-US" sz="2800" dirty="0" smtClean="0">
                <a:hlinkClick r:id="rId4"/>
              </a:rPr>
              <a:t>www.mdpi.com/2227-7102/15/3/352</a:t>
            </a:r>
            <a:endParaRPr lang="en-US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endParaRPr lang="en-US" sz="2800" dirty="0" smtClean="0"/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Offline-first Architecture for Education Systems in Low-connectivity </a:t>
            </a:r>
            <a:r>
              <a:rPr lang="en-US" sz="2800" dirty="0" smtClean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Areas </a:t>
            </a:r>
            <a:r>
              <a:rPr lang="en-US" sz="2800" dirty="0"/>
              <a:t>→ </a:t>
            </a:r>
            <a:r>
              <a:rPr lang="en-US" sz="2800" dirty="0" smtClean="0">
                <a:hlinkClick r:id="rId5"/>
              </a:rPr>
              <a:t>https</a:t>
            </a:r>
            <a:r>
              <a:rPr lang="en-US" sz="2800" dirty="0">
                <a:hlinkClick r:id="rId5"/>
              </a:rPr>
              <a:t>://unesdoc.unesco.org/ark:/48223/pf0000385077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xmlns="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E-</a:t>
            </a:r>
            <a:r>
              <a:rPr lang="en-IN" dirty="0" err="1"/>
              <a:t>Pluse</a:t>
            </a:r>
            <a:endParaRPr lang="en-IN" dirty="0"/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7555</TotalTime>
  <Words>525</Words>
  <Application>Microsoft Office PowerPoint</Application>
  <PresentationFormat>Custom</PresentationFormat>
  <Paragraphs>88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2025</vt:lpstr>
      <vt:lpstr> AI-Powered ERP for Rural Schools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Company>Crowdfunder, Inc.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creator>Crowdfunder</dc:creator>
  <cp:lastModifiedBy>Customer</cp:lastModifiedBy>
  <cp:revision>153</cp:revision>
  <dcterms:created xsi:type="dcterms:W3CDTF">2013-12-12T18:46:50Z</dcterms:created>
  <dcterms:modified xsi:type="dcterms:W3CDTF">2025-09-11T18:29:33Z</dcterms:modified>
</cp:coreProperties>
</file>